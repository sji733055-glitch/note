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372" r:id="rId3"/>
    <p:sldId id="373" r:id="rId4"/>
    <p:sldId id="374" r:id="rId5"/>
    <p:sldId id="375" r:id="rId6"/>
    <p:sldId id="376" r:id="rId7"/>
    <p:sldId id="378" r:id="rId8"/>
    <p:sldId id="379" r:id="rId9"/>
    <p:sldId id="380" r:id="rId10"/>
    <p:sldId id="381" r:id="rId11"/>
    <p:sldId id="382" r:id="rId12"/>
    <p:sldId id="383" r:id="rId13"/>
    <p:sldId id="260" r:id="rId14"/>
  </p:sldIdLst>
  <p:sldSz cx="12192000" cy="6858000"/>
  <p:notesSz cx="6858000" cy="9144000"/>
  <p:custDataLst>
    <p:tags r:id="rId17"/>
  </p:custDataLst>
  <p:defaultTextStyle>
    <a:defPPr rtl="0"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712E"/>
    <a:srgbClr val="444E56"/>
    <a:srgbClr val="117186"/>
    <a:srgbClr val="004C75"/>
    <a:srgbClr val="808080"/>
    <a:srgbClr val="4590B8"/>
    <a:srgbClr val="4876CD"/>
    <a:srgbClr val="99FF66"/>
    <a:srgbClr val="99CC00"/>
    <a:srgbClr val="33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2576" autoAdjust="0"/>
    <p:restoredTop sz="95244" autoAdjust="0"/>
  </p:normalViewPr>
  <p:slideViewPr>
    <p:cSldViewPr snapToGrid="0">
      <p:cViewPr varScale="1">
        <p:scale>
          <a:sx n="87" d="100"/>
          <a:sy n="87" d="100"/>
        </p:scale>
        <p:origin x="60" y="5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99690-A1B4-4631-A843-BC33AAFEB53A}" type="datetimeFigureOut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2025/1/27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C93706-78A1-4E82-BB60-80A7D602F484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‹#›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5CBC27D5-E943-4688-A3E4-00C0F3344C8A}" type="datetimeFigureOut">
              <a:rPr lang="zh-CN" altLang="en-US" smtClean="0"/>
              <a:t>2025/1/27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039B6F5C-370E-43A9-8FB2-7FE12A59E2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YaHei UI" panose="020B0503020204020204" pitchFamily="34" charset="-122"/>
        <a:ea typeface="Microsoft YaHei UI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02167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48838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4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66331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26759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6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526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7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6020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8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37938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9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5359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7878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11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74815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12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45790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9B6F5C-370E-43A9-8FB2-7FE12A59E293}" type="slidenum">
              <a:rPr lang="zh-CN" altLang="en-US" smtClean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13</a:t>
            </a:fld>
            <a:endParaRPr lang="zh-CN" altLang="en-US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446534" y="4264429"/>
            <a:ext cx="11262866" cy="2126136"/>
          </a:xfrm>
          <a:prstGeom prst="rect">
            <a:avLst/>
          </a:prstGeom>
          <a:solidFill>
            <a:srgbClr val="1A326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3E7F0539-EDB5-495D-89F2-C833D4240245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49802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8577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B8ABD03-1D09-4FDF-B7F3-BC40D9AA2B4B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794463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946AA11-7391-430C-8DDA-B49E90C09240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8897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606554"/>
            <a:ext cx="11029616" cy="878681"/>
          </a:xfrm>
        </p:spPr>
        <p:txBody>
          <a:bodyPr rtlCol="0"/>
          <a:lstStyle/>
          <a:p>
            <a:pPr rtl="0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4B4526D-7BDC-448E-8C9D-BB317B965AC2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86246" y="717139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长方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20E3E17-F14F-4B33-BB9A-F35E533AB708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EF29E20-40CA-4076-A63E-629668579597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长方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1666FA-6BE5-48DD-9D44-2221F5CF0654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标题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A88D6F37-DAF3-4711-B0CF-E517C0EBEE12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zh-CN" alt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标题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AEF714D-CDEC-4A62-B928-1473E0C461ED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9B87A8-1EAB-458E-AEB0-B95362887253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9575" y="1027220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垂直文本占位符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zh-CN" altLang="en-US"/>
              <a:t>单击此处编辑母版文本样式</a:t>
            </a:r>
          </a:p>
          <a:p>
            <a:pPr lvl="1" rtl="0"/>
            <a:r>
              <a:rPr lang="zh-CN" altLang="en-US"/>
              <a:t>二级</a:t>
            </a:r>
          </a:p>
          <a:p>
            <a:pPr lvl="2" rtl="0"/>
            <a:r>
              <a:rPr lang="zh-CN" altLang="en-US"/>
              <a:t>三级</a:t>
            </a:r>
          </a:p>
          <a:p>
            <a:pPr lvl="3" rtl="0"/>
            <a:r>
              <a:rPr lang="zh-CN" altLang="en-US"/>
              <a:t>四级</a:t>
            </a:r>
          </a:p>
          <a:p>
            <a:pPr lvl="4" rtl="0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6389FF3-696C-40BE-8139-C6DC043C8C6C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垂直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" contrast="30000"/>
                    </a14:imgEffect>
                    <a14:imgEffect>
                      <a14:colorTemperature colorTemp="88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rcRect l="1" r="230"/>
          <a:stretch>
            <a:fillRect/>
          </a:stretch>
        </p:blipFill>
        <p:spPr>
          <a:xfrm>
            <a:off x="446533" y="734134"/>
            <a:ext cx="10050914" cy="5666666"/>
          </a:xfrm>
          <a:prstGeom prst="rect">
            <a:avLst/>
          </a:prstGeom>
          <a:noFill/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8838650" y="734133"/>
            <a:ext cx="2906817" cy="5679949"/>
          </a:xfrm>
          <a:prstGeom prst="rect">
            <a:avLst/>
          </a:prstGeom>
          <a:gradFill>
            <a:gsLst>
              <a:gs pos="50000">
                <a:srgbClr val="1A3260"/>
              </a:gs>
              <a:gs pos="0">
                <a:schemeClr val="accent1">
                  <a:alpha val="0"/>
                </a:schemeClr>
              </a:gs>
              <a:gs pos="100000">
                <a:schemeClr val="accent1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A964671-51AB-4679-97BB-A5767C65AB0C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9" name="标题 1"/>
          <p:cNvSpPr txBox="1"/>
          <p:nvPr userDrawn="1"/>
        </p:nvSpPr>
        <p:spPr>
          <a:xfrm>
            <a:off x="8353019" y="2416478"/>
            <a:ext cx="3081576" cy="93591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zh-CN" altLang="en-US" sz="4800" dirty="0">
                <a:solidFill>
                  <a:srgbClr val="FFFFFF"/>
                </a:solidFill>
              </a:rPr>
              <a:t>感谢观看</a:t>
            </a:r>
            <a:endParaRPr lang="en-US" sz="4800" dirty="0">
              <a:solidFill>
                <a:srgbClr val="FFFFFF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097723" y="3695796"/>
            <a:ext cx="3592168" cy="62612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n-US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n-US"/>
              <a:t>编辑母版文本样式</a:t>
            </a:r>
          </a:p>
          <a:p>
            <a:pPr lvl="1" rtl="0"/>
            <a:r>
              <a:rPr lang="en-US"/>
              <a:t>第二级</a:t>
            </a:r>
          </a:p>
          <a:p>
            <a:pPr lvl="2" rtl="0"/>
            <a:r>
              <a:rPr lang="en-US"/>
              <a:t>第三级</a:t>
            </a:r>
          </a:p>
          <a:p>
            <a:pPr lvl="3" rtl="0"/>
            <a:r>
              <a:rPr lang="en-US"/>
              <a:t>第四级</a:t>
            </a:r>
          </a:p>
          <a:p>
            <a:pPr lvl="4" rtl="0"/>
            <a:r>
              <a:rPr lang="en-US"/>
              <a:t>第五级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05951" y="6296959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E6919CB4-F61F-4504-B693-1C4E320BF5D6}" type="datetime1">
              <a:rPr lang="zh-CN" altLang="en-US" smtClean="0"/>
              <a:t>2025/1/27</a:t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581192" y="6292633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0558300" y="6296959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fld id="{D57F1E4F-1CFF-5643-939E-217C01CDF56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矩形 8"/>
          <p:cNvSpPr/>
          <p:nvPr/>
        </p:nvSpPr>
        <p:spPr>
          <a:xfrm>
            <a:off x="446534" y="249384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矩形 9"/>
          <p:cNvSpPr/>
          <p:nvPr/>
        </p:nvSpPr>
        <p:spPr>
          <a:xfrm>
            <a:off x="8042147" y="245827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矩形 10"/>
          <p:cNvSpPr/>
          <p:nvPr/>
        </p:nvSpPr>
        <p:spPr>
          <a:xfrm>
            <a:off x="4241830" y="249384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YaHei UI" panose="020B0503020204020204" pitchFamily="34" charset="-122"/>
          <a:ea typeface="Microsoft YaHei UI" panose="020B0503020204020204" pitchFamily="34" charset="-122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数字连接"/>
          <p:cNvPicPr>
            <a:picLocks noChangeAspect="1"/>
          </p:cNvPicPr>
          <p:nvPr/>
        </p:nvPicPr>
        <p:blipFill rotWithShape="1">
          <a:blip r:embed="rId3" cstate="screen"/>
          <a:srcRect l="13265" t="9091" r="3502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2" name="矩形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82601" y="4461097"/>
            <a:ext cx="10993549" cy="1851026"/>
          </a:xfrm>
        </p:spPr>
        <p:txBody>
          <a:bodyPr rtlCol="0" anchor="t">
            <a:noAutofit/>
          </a:bodyPr>
          <a:lstStyle/>
          <a:p>
            <a:pPr rtl="0">
              <a:lnSpc>
                <a:spcPct val="120000"/>
              </a:lnSpc>
            </a:pPr>
            <a:r>
              <a:rPr lang="en-US" altLang="zh-CN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5.8 </a:t>
            </a:r>
            <a:r>
              <a:rPr lang="zh-CN" altLang="en-US" sz="6000" cap="none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功率控制策略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679" y="300388"/>
            <a:ext cx="4974997" cy="867156"/>
          </a:xfrm>
          <a:prstGeom prst="rect">
            <a:avLst/>
          </a:prstGeom>
        </p:spPr>
      </p:pic>
      <p:sp>
        <p:nvSpPr>
          <p:cNvPr id="12" name="副标题 2"/>
          <p:cNvSpPr txBox="1"/>
          <p:nvPr/>
        </p:nvSpPr>
        <p:spPr>
          <a:xfrm>
            <a:off x="6950679" y="5592632"/>
            <a:ext cx="4642095" cy="63547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 cap="all">
                <a:solidFill>
                  <a:schemeClr val="accent2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3200" cap="none" dirty="0" err="1">
                <a:solidFill>
                  <a:schemeClr val="bg1"/>
                </a:solidFill>
              </a:rPr>
              <a:t>RoboWalker</a:t>
            </a:r>
            <a:r>
              <a:rPr lang="en-US" altLang="zh-CN" sz="3200" cap="none" dirty="0">
                <a:solidFill>
                  <a:schemeClr val="bg1"/>
                </a:solidFill>
              </a:rPr>
              <a:t> | </a:t>
            </a:r>
            <a:r>
              <a:rPr lang="en-US" altLang="zh-CN" sz="3200" cap="none" dirty="0" err="1">
                <a:solidFill>
                  <a:schemeClr val="bg1"/>
                </a:solidFill>
              </a:rPr>
              <a:t>Yssickjgd</a:t>
            </a:r>
            <a:endParaRPr lang="en-US" sz="4000" cap="none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zh-CN" altLang="en-US" sz="4000" cap="none" dirty="0"/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1192" y="1550046"/>
            <a:ext cx="11029616" cy="3887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回顾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功率重分配方法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衰减功率法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衰减电流法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特殊情况分析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单独考虑动力学解算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舵轮底盘舵向电机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平衡底盘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23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回顾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581192" y="1550046"/>
            <a:ext cx="11029616" cy="2866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上几节，我们现在手头有了啥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有一个以力控为导向的底盘，每个电机控制的都是扭矩，对应到牵引力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扭矩输出的大头是动力学解算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结合了陀螺仪，有了上坡扭矩补偿前馈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结合了机械结构，有了阻力扭矩补偿前馈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为防止单轮超速，有个很软的单电机角速度环的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控制器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有了电机的功率建模公式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这里如果不了解的，可以去看看前面的视频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有了这些基础，功率控制才能更好实现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C4ABB00-4869-413F-A91B-B5905FD98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18" y="1947051"/>
            <a:ext cx="4592690" cy="275561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9ECF8C9-2A82-4E5F-84C8-BAD0579FA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75" y="4930446"/>
            <a:ext cx="5765074" cy="150655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9FA4B06-819E-406C-856F-83202C6E7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4552" y="4848124"/>
            <a:ext cx="4516364" cy="2009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307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回顾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7062237" y="3705165"/>
            <a:ext cx="2106779" cy="1021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Maclaurin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展开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加绝对值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都加绝对值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D25746B-A8F5-4C98-9D23-51EC516E25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8059" y="2006880"/>
            <a:ext cx="2246822" cy="447284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48BFF8F-8ED4-4481-AFA8-3FC0B062FB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070" y="3449626"/>
            <a:ext cx="5910125" cy="32090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30D2D80-ED5E-4A33-A6F7-D3BE8FC3CFC5}"/>
              </a:ext>
            </a:extLst>
          </p:cNvPr>
          <p:cNvSpPr txBox="1"/>
          <p:nvPr/>
        </p:nvSpPr>
        <p:spPr>
          <a:xfrm>
            <a:off x="733592" y="1702446"/>
            <a:ext cx="11029616" cy="1698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上一节单电机功率模型结尾，我留了小尾巴，就是那两个反思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我后来把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k1 * I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k2 * ω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加了个绝对值，新参数如图所示，几乎看不出差距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模型确实有更好的估计效果，但效果不是很明显，可能原本拟合得就已经很好了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为了检验电机和功率模型的一致性， 还换了个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3508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，又给新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3508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装了</a:t>
            </a:r>
            <a:r>
              <a:rPr lang="en-US" altLang="zh-CN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270</a:t>
            </a: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减速箱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714500" lvl="3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发现波形还是很一致</a:t>
            </a:r>
            <a:endParaRPr lang="en-US" altLang="zh-CN" sz="16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6177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回顾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581192" y="1550046"/>
            <a:ext cx="11029616" cy="2218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上一节单电机功率模型结尾，我留了小尾巴，就是那两个反思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为了验证整个系统哪个参数占主导地位，我做了数据归一化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最终发现，占主导地位的是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，其次是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k4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k5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。按照电机学中的理念分析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 = f(I, ω) = k0 + k1 * I + k2 * ω + k3 * I * ω + k4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zh-CN" altLang="en-US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I^2 + k5 * ω^2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对应的是机械功率，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k4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对应的是铜损电热，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k5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对应的是铁损电热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这与物理现实也算是一致的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EA55A35-A98B-4A3A-B511-F5C4EE9E5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602" y="1939063"/>
            <a:ext cx="2092206" cy="45331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BB7CC3-6CD1-4A8A-A6B9-3C8D7648A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0281" y="4580821"/>
            <a:ext cx="8188661" cy="84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17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回顾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581192" y="1550046"/>
            <a:ext cx="11029616" cy="2938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而功率控制前瞻那里，我们对电机的功率重分配算法说的也比较笼统，只给了一个功率衰减因数，但没说具体是啥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大多开源报告做的工作，是将衰减因数作用在功率上。也就是每电机功率衰减比例相同，电流衰减比例不同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而我分析了对应思路后，提出了一个衰减因数作用在电流上的算法，也就是每电机功率衰减比例不同，而电流衰减比例相同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这两种方法归根结底都是</a:t>
            </a: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降低发给电机的给定电流值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，只是过程和结果不同，优劣各有所长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我也希望通过我的算法抛砖引玉，或许其他队伍有更好的算法可以分享出来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A057058-502F-43A1-8C33-52CC85C6F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4606" y="4587818"/>
            <a:ext cx="7062787" cy="227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4514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回顾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581192" y="1550046"/>
            <a:ext cx="11029616" cy="51068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为了更好进行后续分析，我们有以下若干</a:t>
            </a:r>
            <a:r>
              <a:rPr lang="zh-CN" altLang="en-US" sz="1400" dirty="0">
                <a:highlight>
                  <a:srgbClr val="FFFF00"/>
                </a:highlight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前置条件和假设</a:t>
            </a:r>
            <a:endParaRPr lang="en-US" altLang="zh-CN" sz="1400" dirty="0">
              <a:highlight>
                <a:srgbClr val="FFFF00"/>
              </a:highlight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扭矩和电机相电流是</a:t>
            </a:r>
            <a:r>
              <a:rPr lang="zh-CN" altLang="en-US" sz="1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成正比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的，其相比一个系数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根据手册，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3508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电机对应的就是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0.3N·m/A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根据手册，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C620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电调发送的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16384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对应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20A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换句话说，给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C620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发送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100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，对应的就是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0.12A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，也就是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0.36N·m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的扭矩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C620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电调反馈数据同理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电机的</a:t>
            </a:r>
            <a:r>
              <a:rPr lang="zh-CN" altLang="en-US" sz="1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电流环可以被良好跟随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，或者说可以瞬变；而</a:t>
            </a:r>
            <a:r>
              <a:rPr lang="zh-CN" altLang="en-US" sz="1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角速度环不能瞬变</a:t>
            </a:r>
            <a:endParaRPr lang="en-US" altLang="zh-CN" sz="1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好比高中物理对物块分析时，位置和速度一般不能突变，但加速度和力可以突变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底盘电机不会工作在近似于空转的状态下</a:t>
            </a:r>
            <a:endParaRPr lang="en-US" altLang="zh-CN" sz="1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电机空载时，给电机发送最大值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16384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，电机会很快转到最大速度。这时如果观察波形就会发现，电机的当前电流远小于我们发的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16384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，也就是说电机失去了电流环的闭环能力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而对于我们的底盘而言，我们假设不会存在这种情况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本章节采用的</a:t>
            </a:r>
            <a:r>
              <a:rPr lang="zh-CN" altLang="en-US" sz="1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功率建模公式仍旧不带绝对值</a:t>
            </a:r>
            <a:endParaRPr lang="en-US" altLang="zh-CN" sz="1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 = f(I, ω) = k0 + k1 * I + k2 * ω + k3 * I * ω + k4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*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I^2 + k5 * ω^2</a:t>
            </a: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给定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en-US" altLang="zh-CN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ω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后，相当于一个一元二次方程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带绝对值也可以，后面公式请自行适配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本章节的功率控制算法，对</a:t>
            </a:r>
            <a:r>
              <a:rPr lang="zh-CN" altLang="en-US" sz="1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全向轮、麦轮底盘以及舵轮底盘的轮向电机均适用</a:t>
            </a:r>
            <a:r>
              <a:rPr lang="zh-CN" altLang="en-US" sz="1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，结尾处会讲特殊构型底盘（舵轮舵向电机、平衡轮向电机）如何处理</a:t>
            </a:r>
            <a:endParaRPr lang="en-US" altLang="zh-CN" sz="1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0B5A19B-0A6E-4780-96AF-6AA6239B12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918" y="1624425"/>
            <a:ext cx="4081936" cy="32015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57C10BD-A7D3-4DAE-8C69-04972E3C9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7918" y="2041298"/>
            <a:ext cx="3302746" cy="65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160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4000" cap="none" dirty="0"/>
              <a:t>1 </a:t>
            </a:r>
            <a:r>
              <a:rPr lang="zh-CN" altLang="en-US" sz="4000" cap="none" dirty="0"/>
              <a:t>回顾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581192" y="1550046"/>
            <a:ext cx="11029616" cy="4847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此外，我们还需明确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功率重分配，发生在，，，发生在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底盘的运动学、动力学、前馈计算得到</a:t>
            </a:r>
            <a:r>
              <a:rPr lang="zh-CN" altLang="en-US" sz="24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扭矩电流结果之后</a:t>
            </a:r>
            <a:endParaRPr lang="en-US" altLang="zh-CN" sz="2400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也就是我们要在发给电机前一步，临门一脚的时候，进行处理！</a:t>
            </a:r>
            <a:endParaRPr lang="en-US" altLang="zh-CN" sz="24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2035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sz="3200" cap="none" dirty="0"/>
              <a:t>2 </a:t>
            </a:r>
            <a:r>
              <a:rPr lang="zh-CN" altLang="en-US" sz="32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功率重分配方法</a:t>
            </a:r>
            <a:endParaRPr lang="zh-CN" altLang="en-US" sz="3200" cap="none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581192" y="1550046"/>
            <a:ext cx="11029616" cy="41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本章节详见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文档</a:t>
            </a:r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6366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cap="none" dirty="0"/>
              <a:t>3.1 </a:t>
            </a:r>
            <a:r>
              <a:rPr lang="zh-CN" altLang="en-US" cap="none" dirty="0"/>
              <a:t>特殊情况分析</a:t>
            </a:r>
            <a:r>
              <a:rPr lang="en-US" altLang="zh-CN" cap="none" dirty="0"/>
              <a:t>——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单独考虑动力学解算</a:t>
            </a:r>
            <a:endParaRPr lang="zh-CN" altLang="en-US" cap="none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581192" y="1550046"/>
            <a:ext cx="11029616" cy="3654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我们力控底盘中，其实也有一些非动力学解算的部分在起作用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力补偿前馈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上坡扭矩补偿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阻力扭矩补偿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防单轮过速的速度环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PID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（很软很软）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因此，我们可以将动力学解算部分单独拿出来过功率控制算法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而对于其他部分，则不进行功率控制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前提是这个其他部分对于整体的动力学建模影响不大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如若很大，不控制这一部分则有超功率的风险！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E9396A4-ACBA-41CA-B705-3EE3770F48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658" y="5205021"/>
            <a:ext cx="5744683" cy="1652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75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cap="none" dirty="0"/>
              <a:t>3.2 </a:t>
            </a:r>
            <a:r>
              <a:rPr lang="zh-CN" altLang="en-US" cap="none" dirty="0"/>
              <a:t>特殊情况分析</a:t>
            </a:r>
            <a:r>
              <a:rPr lang="en-US" altLang="zh-CN" cap="none" dirty="0"/>
              <a:t>——</a:t>
            </a:r>
            <a:r>
              <a:rPr lang="zh-CN" altLang="en-US" cap="none" dirty="0"/>
              <a:t>舵轮底盘舵向电机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581192" y="1550046"/>
            <a:ext cx="11029616" cy="4055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对于舵轮底盘，制作规范手册中仍旧需要对舵向电机限制功率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我的处理策略是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优先给舵向电机分配不超过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50%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的限制功率，并用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2.1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</a:t>
            </a:r>
            <a:r>
              <a:rPr lang="zh-CN" altLang="en-US" sz="2000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衰减功率法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控制功率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不用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2.2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的衰减电流法，是因为我们没必要保证每个舵向电机转矩是等比例衰减的，反而我们需要保证舵向电机尽可能地快速转到对应位置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轮向电机的限制功率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如果舵向电机没吃满，就吃舵向电机剩的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如果舵向电机吃满了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50%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的限制功率，就只吃剩下的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50%</a:t>
            </a:r>
          </a:p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舵轮底盘前期机动性相对较差的原因就在于此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重，还要给舵向电机分配一部分功率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5FBC763-360E-4024-953F-FCDFD511C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5074" y="5304698"/>
            <a:ext cx="5876925" cy="155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227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81194" y="555076"/>
            <a:ext cx="11029616" cy="994970"/>
          </a:xfrm>
        </p:spPr>
        <p:txBody>
          <a:bodyPr rtlCol="0" anchor="ctr">
            <a:normAutofit/>
          </a:bodyPr>
          <a:lstStyle/>
          <a:p>
            <a:r>
              <a:rPr lang="en-US" altLang="zh-CN" cap="none" dirty="0"/>
              <a:t>3.3 </a:t>
            </a:r>
            <a:r>
              <a:rPr lang="zh-CN" altLang="en-US" cap="none" dirty="0"/>
              <a:t>特殊情况分析</a:t>
            </a:r>
            <a:r>
              <a:rPr lang="en-US" altLang="zh-CN" cap="none" dirty="0"/>
              <a:t>——</a:t>
            </a:r>
            <a:r>
              <a:rPr lang="zh-CN" altLang="en-US" sz="28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平衡底盘</a:t>
            </a:r>
            <a:endParaRPr lang="zh-CN" altLang="en-US" cap="none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D45D44-B5C9-440E-9A5D-65B593C0286D}"/>
              </a:ext>
            </a:extLst>
          </p:cNvPr>
          <p:cNvSpPr txBox="1"/>
          <p:nvPr/>
        </p:nvSpPr>
        <p:spPr>
          <a:xfrm>
            <a:off x="581192" y="1550046"/>
            <a:ext cx="11029616" cy="4055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对于平衡底盘，其实和</a:t>
            </a:r>
            <a:r>
              <a:rPr lang="en-US" altLang="zh-CN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3.1</a:t>
            </a: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单独考虑动力学解算的思路是类似的，在此仅提一下，不额外赘述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平衡底盘中，腿电机不计入功率，计入功率的仅限轮向电机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轮向电机干两件事，一个是维持平衡，一个是产生运动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策略比较显而易见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对维持平衡的扭矩电流，不进行功率控制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1257300" lvl="2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对产生运动的扭矩电流，进行功率控制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当然，我们仍旧希望这个维持平衡的部分对于整体的动力学建模影响不大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如若很大，不控制这一部分则有超功率的风险！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但平衡底盘是要控制维持平衡的，有翻车的风险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pPr marL="800100" lvl="1" indent="-34290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因此，解决方案比较粗暴，那就是常开超级电容</a:t>
            </a:r>
            <a:endParaRPr lang="en-US" altLang="zh-CN" sz="20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213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7a275ec-753e-47af-878d-7a97e07041b7"/>
  <p:tag name="COMMONDATA" val="eyJoZGlkIjoiYTBlMjBiOWE1Zjk5NDQ1M2U3NWYyMDQ3YWNmOWJjZWIifQ=="/>
</p:tagLst>
</file>

<file path=ppt/theme/theme1.xml><?xml version="1.0" encoding="utf-8"?>
<a:theme xmlns:a="http://schemas.openxmlformats.org/drawingml/2006/main" name="红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TM03457464[[fn=红利]]</Template>
  <TotalTime>0</TotalTime>
  <Words>1284</Words>
  <Application>Microsoft Office PowerPoint</Application>
  <PresentationFormat>宽屏</PresentationFormat>
  <Paragraphs>118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 UI</vt:lpstr>
      <vt:lpstr>Arial</vt:lpstr>
      <vt:lpstr>Gill Sans MT</vt:lpstr>
      <vt:lpstr>Wingdings 2</vt:lpstr>
      <vt:lpstr>红利</vt:lpstr>
      <vt:lpstr>5.8 功率控制策略</vt:lpstr>
      <vt:lpstr>目录</vt:lpstr>
      <vt:lpstr>1 回顾</vt:lpstr>
      <vt:lpstr>1 回顾</vt:lpstr>
      <vt:lpstr>1 回顾</vt:lpstr>
      <vt:lpstr>1 回顾</vt:lpstr>
      <vt:lpstr>1 回顾</vt:lpstr>
      <vt:lpstr>1 回顾</vt:lpstr>
      <vt:lpstr>2 功率重分配方法</vt:lpstr>
      <vt:lpstr>3.1 特殊情况分析——单独考虑动力学解算</vt:lpstr>
      <vt:lpstr>3.2 特殊情况分析——舵轮底盘舵向电机</vt:lpstr>
      <vt:lpstr>3.3 特殊情况分析——平衡底盘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2019-12-13T06:13:00Z</dcterms:created>
  <dcterms:modified xsi:type="dcterms:W3CDTF">2025-01-27T02:08:07Z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ICV">
    <vt:lpwstr>5F80E70E50E141FFB62F51F4FF0185D8</vt:lpwstr>
  </property>
  <property fmtid="{D5CDD505-2E9C-101B-9397-08002B2CF9AE}" pid="4" name="KSOProductBuildVer">
    <vt:lpwstr>2052-11.1.0.12980</vt:lpwstr>
  </property>
</Properties>
</file>