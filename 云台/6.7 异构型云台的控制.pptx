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72" r:id="rId3"/>
    <p:sldId id="394" r:id="rId4"/>
    <p:sldId id="395" r:id="rId5"/>
    <p:sldId id="401" r:id="rId6"/>
    <p:sldId id="396" r:id="rId7"/>
    <p:sldId id="400" r:id="rId8"/>
    <p:sldId id="397" r:id="rId9"/>
    <p:sldId id="402" r:id="rId10"/>
    <p:sldId id="403" r:id="rId11"/>
    <p:sldId id="260" r:id="rId12"/>
  </p:sldIdLst>
  <p:sldSz cx="12192000" cy="6858000"/>
  <p:notesSz cx="6858000" cy="9144000"/>
  <p:custDataLst>
    <p:tags r:id="rId15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12E"/>
    <a:srgbClr val="444E56"/>
    <a:srgbClr val="117186"/>
    <a:srgbClr val="004C75"/>
    <a:srgbClr val="808080"/>
    <a:srgbClr val="4590B8"/>
    <a:srgbClr val="4876CD"/>
    <a:srgbClr val="99FF66"/>
    <a:srgbClr val="99CC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76" autoAdjust="0"/>
    <p:restoredTop sz="95244" autoAdjust="0"/>
  </p:normalViewPr>
  <p:slideViewPr>
    <p:cSldViewPr snapToGrid="0">
      <p:cViewPr varScale="1">
        <p:scale>
          <a:sx n="95" d="100"/>
          <a:sy n="95" d="100"/>
        </p:scale>
        <p:origin x="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2025/3/25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216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994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157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225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303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373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06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838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867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6534" y="4264429"/>
            <a:ext cx="11262866" cy="2126136"/>
          </a:xfrm>
          <a:prstGeom prst="rect">
            <a:avLst/>
          </a:prstGeom>
          <a:solidFill>
            <a:srgbClr val="1A326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E7F0539-EDB5-495D-89F2-C833D4240245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49802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8577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8ABD03-1D09-4FDF-B7F3-BC40D9AA2B4B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794463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946AA11-7391-430C-8DDA-B49E90C09240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8897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606554"/>
            <a:ext cx="11029616" cy="878681"/>
          </a:xfrm>
        </p:spPr>
        <p:txBody>
          <a:bodyPr rtlCol="0"/>
          <a:lstStyle/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4526D-7BDC-448E-8C9D-BB317B965AC2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6246" y="717139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0E3E17-F14F-4B33-BB9A-F35E533AB708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F29E20-40CA-4076-A63E-629668579597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666FA-6BE5-48DD-9D44-2221F5CF0654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88D6F37-DAF3-4711-B0CF-E517C0EBEE12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EF714D-CDEC-4A62-B928-1473E0C461ED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9B87A8-1EAB-458E-AEB0-B95362887253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6389FF3-696C-40BE-8139-C6DC043C8C6C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30000"/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" r="230"/>
          <a:stretch>
            <a:fillRect/>
          </a:stretch>
        </p:blipFill>
        <p:spPr>
          <a:xfrm>
            <a:off x="446533" y="734134"/>
            <a:ext cx="10050914" cy="5666666"/>
          </a:xfrm>
          <a:prstGeom prst="rect">
            <a:avLst/>
          </a:prstGeom>
          <a:noFill/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8838650" y="734133"/>
            <a:ext cx="2906817" cy="5679949"/>
          </a:xfrm>
          <a:prstGeom prst="rect">
            <a:avLst/>
          </a:prstGeom>
          <a:gradFill>
            <a:gsLst>
              <a:gs pos="50000">
                <a:srgbClr val="1A3260"/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964671-51AB-4679-97BB-A5767C65AB0C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标题 1"/>
          <p:cNvSpPr txBox="1"/>
          <p:nvPr userDrawn="1"/>
        </p:nvSpPr>
        <p:spPr>
          <a:xfrm>
            <a:off x="8353019" y="2416478"/>
            <a:ext cx="3081576" cy="935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>
                <a:solidFill>
                  <a:srgbClr val="FFFFFF"/>
                </a:solidFill>
              </a:rPr>
              <a:t>感谢观看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97723" y="3695796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编辑母版文本样式</a:t>
            </a:r>
          </a:p>
          <a:p>
            <a:pPr lvl="1" rtl="0"/>
            <a:r>
              <a:rPr lang="en-US"/>
              <a:t>第二级</a:t>
            </a:r>
          </a:p>
          <a:p>
            <a:pPr lvl="2" rtl="0"/>
            <a:r>
              <a:rPr lang="en-US"/>
              <a:t>第三级</a:t>
            </a:r>
          </a:p>
          <a:p>
            <a:pPr lvl="3" rtl="0"/>
            <a:r>
              <a:rPr lang="en-US"/>
              <a:t>第四级</a:t>
            </a:r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29695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919CB4-F61F-4504-B693-1C4E320BF5D6}" type="datetime1">
              <a:rPr lang="zh-CN" altLang="en-US" smtClean="0"/>
              <a:t>2025/3/25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292633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29695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24938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245827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249384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数字连接"/>
          <p:cNvPicPr>
            <a:picLocks noChangeAspect="1"/>
          </p:cNvPicPr>
          <p:nvPr/>
        </p:nvPicPr>
        <p:blipFill rotWithShape="1">
          <a:blip r:embed="rId3" cstate="screen"/>
          <a:srcRect l="13265" t="9091" r="3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2601" y="4461097"/>
            <a:ext cx="10993549" cy="1851026"/>
          </a:xfrm>
        </p:spPr>
        <p:txBody>
          <a:bodyPr rtlCol="0" anchor="t">
            <a:noAutofit/>
          </a:bodyPr>
          <a:lstStyle/>
          <a:p>
            <a:pPr rtl="0">
              <a:lnSpc>
                <a:spcPct val="120000"/>
              </a:lnSpc>
            </a:pPr>
            <a:r>
              <a:rPr lang="en-US" altLang="zh-CN" sz="54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6.7 </a:t>
            </a:r>
            <a:r>
              <a:rPr lang="zh-CN" altLang="en-US" sz="54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异构型云台的控制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679" y="300388"/>
            <a:ext cx="4974997" cy="867156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6950679" y="5592632"/>
            <a:ext cx="4642095" cy="6354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3200" cap="none" dirty="0" err="1">
                <a:solidFill>
                  <a:schemeClr val="bg1"/>
                </a:solidFill>
              </a:rPr>
              <a:t>RoboWalker</a:t>
            </a:r>
            <a:r>
              <a:rPr lang="en-US" altLang="zh-CN" sz="3200" cap="none" dirty="0">
                <a:solidFill>
                  <a:schemeClr val="bg1"/>
                </a:solidFill>
              </a:rPr>
              <a:t> | </a:t>
            </a:r>
            <a:r>
              <a:rPr lang="en-US" altLang="zh-CN" sz="3200" cap="none" dirty="0" err="1">
                <a:solidFill>
                  <a:schemeClr val="bg1"/>
                </a:solidFill>
              </a:rPr>
              <a:t>Yssickjgd</a:t>
            </a:r>
            <a:endParaRPr lang="en-US" sz="4000" cap="non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zh-CN" altLang="en-US" sz="4000" cap="none" dirty="0"/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192" y="1550046"/>
            <a:ext cx="11029616" cy="2279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回顾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三轴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YRP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云台的控制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三轴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YYP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云台的控制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五轴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Y[YP+YP]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云台的控制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2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回顾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3654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这一章节直到现在，我们已经开发了如下内容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将云台电机的当前角速度数值换成陀螺仪获取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将云台引入操作信号的速度前馈和自稳的速度前馈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将云台引入简易的重力补偿前馈（一般的重力补偿还有加速度补偿不建议使用）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以上内容，对任何异构型云台，也都仍旧适用的，只是可能需要转换一些坐标系而已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换言之，对于新云台，我们还要考虑已有算法的适配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最直接的变化：多了若干轴，我们就需要多乘若干个旋转矩阵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07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 </a:t>
            </a:r>
            <a:r>
              <a:rPr lang="zh-CN" altLang="en-US" sz="4000" cap="none" dirty="0"/>
              <a:t>三轴</a:t>
            </a:r>
            <a:r>
              <a:rPr lang="en-US" altLang="zh-CN" sz="4000" cap="none" dirty="0"/>
              <a:t>YRP</a:t>
            </a:r>
            <a:r>
              <a:rPr lang="zh-CN" altLang="en-US" sz="4000" cap="none" dirty="0"/>
              <a:t>云台的控制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3254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该云台多了个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轴，需要额外乘上旋转矩阵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为了进一步工作，我们需要先适配我们已经开发过的内容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由于云台的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轴只需要自稳到某些有限的角度，不需要进行像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Pitch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一样具体到角度，因此无需进行操作信号的速度前馈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由于简易的重力补偿不考虑云台相对的滚转角，且我们一般会让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轴角度自稳到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保证云台竖直，因此重力补偿法与之前是一致的，不再赘述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其余部分详见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文档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454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 </a:t>
            </a:r>
            <a:r>
              <a:rPr lang="zh-CN" altLang="en-US" sz="4000" cap="none" dirty="0"/>
              <a:t>三轴</a:t>
            </a:r>
            <a:r>
              <a:rPr lang="en-US" altLang="zh-CN" sz="4000" cap="none" dirty="0"/>
              <a:t>YRP</a:t>
            </a:r>
            <a:r>
              <a:rPr lang="zh-CN" altLang="en-US" sz="4000" cap="none" dirty="0"/>
              <a:t>云台的控制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4542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该云台多了个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轴，可额外实现的功能有两个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云台自稳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时刻通过控制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轴电机，以保持云台末端的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角度为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侧身枪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通过旋转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轴到指定角度，如</a:t>
            </a:r>
            <a:r>
              <a:rPr lang="el-GR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π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/4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el-GR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π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/4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，实现侧身开火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相当于时刻通过控制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轴电机，以保持云台末端的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角度为</a:t>
            </a:r>
            <a:r>
              <a:rPr lang="el-GR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π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/4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或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el-GR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π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/4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轴角度保持方法：</a:t>
            </a:r>
            <a:r>
              <a:rPr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角度</a:t>
            </a:r>
            <a:r>
              <a:rPr lang="en-US" altLang="zh-CN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角速度</a:t>
            </a:r>
            <a:r>
              <a:rPr lang="en-US" altLang="zh-CN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扭矩电流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的双环闭环控制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输入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当前值：云台末端陀螺仪的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角度，可直接获取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目标值：控制信号传来的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轴目标值，典型值是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l-GR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π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/4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el-GR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π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/4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输出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控制值：云台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电机的目标角速度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电机角速度前馈值：云台自稳算法中，对应的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Roll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电机的前馈角速度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634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3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三轴</a:t>
            </a:r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YYP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云台的控制</a:t>
            </a:r>
            <a:endParaRPr lang="zh-CN" altLang="en-US" sz="4000" cap="none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3254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该云台相比普通的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YP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云台多了个小云台的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轴，与普通的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YP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云台相比，其特点是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负载的转动惯量小，手感更好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非全自由转向，需要软件限位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对于这种云台的</a:t>
            </a:r>
            <a:r>
              <a:rPr lang="zh-CN" altLang="en-US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</a:t>
            </a:r>
            <a:r>
              <a:rPr lang="en-US" altLang="zh-CN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轴和</a:t>
            </a:r>
            <a:r>
              <a:rPr lang="en-US" altLang="zh-CN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Pitch</a:t>
            </a:r>
            <a:r>
              <a:rPr lang="zh-CN" altLang="en-US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，我们直接套用普通的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YP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云台开发过的算法即可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可根据具体情况决定是否给大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轴上陀螺仪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中科大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24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赛季哨兵没有大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轴陀螺仪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因为大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轴不需要特别快的响应速度，用云台电机编码器足够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C820FE-1489-435D-84F3-C42870EDB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071" y="3585609"/>
            <a:ext cx="2968275" cy="319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7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3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三轴</a:t>
            </a:r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YYP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云台的控制</a:t>
            </a:r>
            <a:endParaRPr lang="zh-CN" altLang="en-US" sz="4000" cap="none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2950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小</a:t>
            </a:r>
            <a:r>
              <a:rPr lang="en-US" altLang="zh-CN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轴电机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的分析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位控，</a:t>
            </a:r>
            <a:r>
              <a:rPr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角度</a:t>
            </a:r>
            <a:r>
              <a:rPr lang="en-US" altLang="zh-CN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角速度</a:t>
            </a:r>
            <a:r>
              <a:rPr lang="en-US" altLang="zh-CN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扭矩电流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的双环闭环，但都是相对</a:t>
            </a:r>
            <a:r>
              <a:rPr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大地坐标系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而非</a:t>
            </a:r>
            <a:r>
              <a:rPr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</a:t>
            </a:r>
            <a:r>
              <a:rPr lang="en-US" altLang="zh-CN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1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坐标系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下进行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目标角度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如若操作手控制，则是：上一时刻的角度设定值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控制信号传来的角速度目标值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灵敏度系数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控制周期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如若视觉接管，则是：接收到视觉传来数据时刻的角度当前值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视觉传来的角度差值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当前角度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底盘陀螺仪获取的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轴角速度对时间积分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云台大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当前角度值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云台小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当前角度值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前馈角速度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如若操作手控制，则是：控制信号传来的角速度目标值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如若视觉接管，则是：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当前角速度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Pitch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陀螺仪获取的角速度经过“结合陀螺仪的云台控制”章节算法解算后得到的小</a:t>
            </a:r>
            <a:r>
              <a:rPr lang="en-US" altLang="zh-CN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Yaw</a:t>
            </a:r>
            <a:r>
              <a:rPr lang="zh-CN" altLang="en-US" sz="12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轴相对于大地的角速度</a:t>
            </a:r>
            <a:r>
              <a:rPr lang="zh-CN" altLang="en-US" sz="1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值</a:t>
            </a:r>
            <a:endParaRPr lang="en-US" altLang="zh-CN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767EF9-9B81-45D5-AF9B-71E1C87F1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335" y="4514597"/>
            <a:ext cx="6913330" cy="230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9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五轴</a:t>
            </a:r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Y[YP+YP]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云台的控制</a:t>
            </a:r>
            <a:endParaRPr lang="zh-CN" altLang="en-US" sz="4000" cap="none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509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这是基于三轴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YYP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plus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版，在原本三轴云台算法上，我们只需额外添加一个动态软限位即可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此外，该部分算法实则无需电控控制，一般由上位机完成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首先，介绍一下哨兵在自由攻击时，敌方目标权重的概念（下列数值仅供参考）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距离越近，权重越大，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4m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内达到最大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12m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外达到最小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血量越少，权重越大，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血量达到最大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300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血量达到最小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75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目标战略价值越大，权重越大，英雄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200&gt;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哨兵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150&gt;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步兵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100&gt;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前哨站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此外，如若锁定了某个敌方，则给该敌方增加一定权重。类似于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Schmidt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触发器，防止权重临界值处两个敌方目标来回切换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发射机构会锁定并跟随击打视野内权重最大的敌方单位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比如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2m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处，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血，步兵的权重是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150+200+100=450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8m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处，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300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血，英雄的权重是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100+75+200=375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然后，将两个发射机构抽象成等腰三角形，相关参数如腰长、顶角、顶点间距等可通过机械结构确定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332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五轴</a:t>
            </a:r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Y[YP+YP]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云台的控制</a:t>
            </a:r>
            <a:endParaRPr lang="zh-CN" altLang="en-US" sz="4000" cap="none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4055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在比赛中，双枪很可能会遇到相互干涉的问题，这时候权重就起作用了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若两个发射机构均未锁到敌方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各自在各自的半边内索敌即可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若有一个发射机构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锁到敌方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记录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内腰的当前角度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另一发射机构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不得在该范围内进行索敌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若两个发射机构均锁到敌方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先挑选出锁定了权重大的敌方的发射机构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记录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内腰的当前角度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另一发射机构不得在该范围内追踪敌方目标，必要时可丢弃目标切换到巡航模式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E5F7A2-25BC-4ECB-A827-A0244E1AD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776" y="2269191"/>
            <a:ext cx="3092824" cy="231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1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4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五轴</a:t>
            </a:r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Y[YP+YP]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云台的控制</a:t>
            </a:r>
            <a:endParaRPr lang="zh-CN" altLang="en-US" sz="4000" cap="none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4455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问题来了，如何界定另一发射机构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的范围呢（还是老样子，前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左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y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z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假设这里</a:t>
            </a:r>
            <a:r>
              <a:rPr lang="zh-CN" altLang="en-US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左侧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是发射机构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，锁定敌方目标的优先级更高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显然，已知了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的右侧腰角度，结合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轴心点即可得知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内侧底边顶点的坐标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我们可以计算出这个顶点与发射机构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转轴连线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连线在坐标系下的方位角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发射机构顶角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/2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是发射机构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角度的最大限制值，不得超过该值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右侧同理（与配图无关）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已知了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的左侧腰角度，结合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轴心点即可得知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内侧底边顶点的坐标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我们可以计算出这个顶点与发射机构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转轴连线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连线在坐标系下的方位角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发射机构顶角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/2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就是发射机构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角度的最小限制值，不得超过该值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30564A-7300-4394-BB40-870D55DAB5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458" t="21076" r="28700" b="11958"/>
          <a:stretch/>
        </p:blipFill>
        <p:spPr>
          <a:xfrm>
            <a:off x="9323293" y="3982840"/>
            <a:ext cx="1389529" cy="155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28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a275ec-753e-47af-878d-7a97e07041b7"/>
  <p:tag name="COMMONDATA" val="eyJoZGlkIjoiYTBlMjBiOWE1Zjk5NDQ1M2U3NWYyMDQ3YWNmOWJjZWIifQ=="/>
</p:tagLst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0</TotalTime>
  <Words>1312</Words>
  <Application>Microsoft Office PowerPoint</Application>
  <PresentationFormat>宽屏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Microsoft YaHei UI</vt:lpstr>
      <vt:lpstr>Arial</vt:lpstr>
      <vt:lpstr>Gill Sans MT</vt:lpstr>
      <vt:lpstr>Wingdings 2</vt:lpstr>
      <vt:lpstr>红利</vt:lpstr>
      <vt:lpstr>6.7 异构型云台的控制</vt:lpstr>
      <vt:lpstr>目录</vt:lpstr>
      <vt:lpstr>1 回顾</vt:lpstr>
      <vt:lpstr>2 三轴YRP云台的控制</vt:lpstr>
      <vt:lpstr>2 三轴YRP云台的控制</vt:lpstr>
      <vt:lpstr>3 三轴YYP云台的控制</vt:lpstr>
      <vt:lpstr>3 三轴YYP云台的控制</vt:lpstr>
      <vt:lpstr>4 五轴Y[YP+YP]云台的控制</vt:lpstr>
      <vt:lpstr>4 五轴Y[YP+YP]云台的控制</vt:lpstr>
      <vt:lpstr>4 五轴Y[YP+YP]云台的控制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2019-12-13T06:13:00Z</dcterms:created>
  <dcterms:modified xsi:type="dcterms:W3CDTF">2025-03-25T08:07:23Z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5F80E70E50E141FFB62F51F4FF0185D8</vt:lpwstr>
  </property>
  <property fmtid="{D5CDD505-2E9C-101B-9397-08002B2CF9AE}" pid="4" name="KSOProductBuildVer">
    <vt:lpwstr>2052-11.1.0.12980</vt:lpwstr>
  </property>
</Properties>
</file>